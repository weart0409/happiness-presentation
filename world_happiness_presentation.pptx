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3291840" cy="384048"/>
          </a:xfrm>
          <a:prstGeom prst="roundRect">
            <a:avLst/>
          </a:prstGeom>
          <a:solidFill>
            <a:srgbClr val="1E3932"/>
          </a:solidFill>
          <a:ln w="19050">
            <a:solidFill>
              <a:srgbClr val="CBA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CBA258"/>
                </a:solidFill>
              </a:defRPr>
            </a:pPr>
            <a:r>
              <a:t>★ GLOBAL DATA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세계 행복 보고서 (2015–2019)</a:t>
            </a:r>
            <a:br/>
            <a:r>
              <a:t>데이터 심층 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4E9E2"/>
                </a:solidFill>
              </a:defRPr>
            </a:pPr>
            <a:r>
              <a:t>5개년 글로벌 행복 지수 트렌드 분석 및 대한민국(South Korea) 심층 진단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120640"/>
            <a:ext cx="9966960" cy="914400"/>
          </a:xfrm>
          <a:prstGeom prst="roundRect">
            <a:avLst/>
          </a:prstGeom>
          <a:solidFill>
            <a:srgbClr val="2B5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52120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분석 대상: UN SDSN World Happiness Dataset (782개 레코드, 150+개국 통합)</a:t>
            </a:r>
            <a:br/>
            <a:r>
              <a:t>디자인 시스템: Starbucks Design System (Warm Canvas, Multi-tier Greens &amp; Gold Status)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54A"/>
                </a:solidFill>
              </a:defRPr>
            </a:pPr>
            <a:r>
              <a:t>WORLD HAPPINESS REPORT 2015-2019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6241"/>
                </a:solidFill>
              </a:defRPr>
            </a:pPr>
            <a:r>
              <a:t>Executive Summary: 5개년 데이터의 3대 핵심 발견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28416" cy="109728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6241"/>
                </a:solidFill>
              </a:defRPr>
            </a:pPr>
            <a:r>
              <a:t>01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700" b="1">
                <a:solidFill>
                  <a:srgbClr val="006241"/>
                </a:solidFill>
              </a:defRPr>
            </a:pPr>
            <a:r>
              <a:t>북유럽의 최상위권 독점</a:t>
            </a:r>
          </a:p>
          <a:p>
            <a:pPr>
              <a:defRPr sz="1200">
                <a:solidFill>
                  <a:srgbClr val="6E6E6E"/>
                </a:solidFill>
              </a:defRPr>
            </a:pPr>
            <a:r>
              <a:t>핀란드(2년 연속 1위), 덴마크, 노르웨이 등 북유럽 복지 국가들이 5개년 연속 1~10위를 확고하게 독점했습니다. 두터운 사회 안전망과 높은 시민 자율성이 성공의 핵심 공식입니다.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328416" cy="109728"/>
          </a:xfrm>
          <a:prstGeom prst="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54A"/>
                </a:solidFill>
              </a:defRPr>
            </a:pPr>
            <a:r>
              <a:t>02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700" b="1">
                <a:solidFill>
                  <a:srgbClr val="006241"/>
                </a:solidFill>
              </a:defRPr>
            </a:pPr>
            <a:r>
              <a:t>행복을 좌우하는 3대 동인</a:t>
            </a:r>
          </a:p>
          <a:p>
            <a:pPr>
              <a:defRPr sz="1200">
                <a:solidFill>
                  <a:srgbClr val="6E6E6E"/>
                </a:solidFill>
              </a:defRPr>
            </a:pPr>
            <a:r>
              <a:t>행복 지수는 1인당 GDP(r=0.79), 건강 기대수명(r=0.74), 사회적 지지(r=0.65)와 매우 강한 상관관계를 보였습니다. 경제적 번영과 건강이 행복의 필수적인 토대입니다.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328416" cy="109728"/>
          </a:xfrm>
          <a:prstGeom prst="rect">
            <a:avLst/>
          </a:prstGeom>
          <a:solidFill>
            <a:srgbClr val="C8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82014"/>
                </a:solidFill>
              </a:defRPr>
            </a:pPr>
            <a:r>
              <a:t>03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700" b="1">
                <a:solidFill>
                  <a:srgbClr val="C82014"/>
                </a:solidFill>
              </a:defRPr>
            </a:pPr>
            <a:r>
              <a:t>대한민국의 행복 역설(Paradox)</a:t>
            </a:r>
          </a:p>
          <a:p>
            <a:pPr>
              <a:defRPr sz="1200">
                <a:solidFill>
                  <a:srgbClr val="6E6E6E"/>
                </a:solidFill>
              </a:defRPr>
            </a:pPr>
            <a:r>
              <a:t>한국은 5개년 평균 50위권 중반(54위)에 정체되어 있습니다. 경제력(GDP)과 보건(수명)은 글로벌 최상위권이나, '삶의 선택 자유(140위권)'와 '정부 청렴도 신뢰'가 최하위권입니다.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54A"/>
                </a:solidFill>
              </a:defRPr>
            </a:pPr>
            <a:r>
              <a:t>WORLD HAPPINESS REPORT 2015-2019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6241"/>
                </a:solidFill>
              </a:defRPr>
            </a:pPr>
            <a:r>
              <a:t>글로벌 행복도 순위 분석: 최상위 10개국 vs 최하위 10개국 (2019)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120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188720"/>
                <a:gridCol w="118872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006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국가명</a:t>
                      </a:r>
                    </a:p>
                  </a:txBody>
                  <a:tcPr>
                    <a:solidFill>
                      <a:srgbClr val="006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행복점수</a:t>
                      </a:r>
                    </a:p>
                  </a:txBody>
                  <a:tcPr>
                    <a:solidFill>
                      <a:srgbClr val="006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1인당 GDP</a:t>
                      </a:r>
                    </a:p>
                  </a:txBody>
                  <a:tcPr>
                    <a:solidFill>
                      <a:srgbClr val="006241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핀란드 (Finland)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2위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덴마크 (Denmark)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7.600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1.383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노르웨이 (Norway)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4위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아이슬란드 (Iceland)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7.494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1.380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네덜란드 (Netherlands)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6위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스위스 (Switzerland)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7.480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1.452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스웨덴 (Sweden)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8위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뉴질랜드 (New Zealand)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7.307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1.303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9위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캐나다 (Canada)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10위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오스트리아 (Austria)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7.246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1.351</a:t>
                      </a:r>
                    </a:p>
                  </a:txBody>
                  <a:tcPr>
                    <a:solidFill>
                      <a:srgbClr val="EDEBE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2014"/>
                </a:solidFill>
              </a:defRPr>
            </a:pPr>
            <a:r>
              <a:t>글로벌 양극화 및 최하위권 현황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100">
                <a:solidFill>
                  <a:srgbClr val="6E6E6E"/>
                </a:solidFill>
              </a:defRPr>
            </a:pPr>
            <a:r>
              <a:t>최하위 5개국 (152~156위):</a:t>
            </a:r>
            <a:br/>
            <a:r>
              <a:t>• 156위 남수단 (2.853점) - 만성 내전, 기근</a:t>
            </a:r>
            <a:br/>
            <a:r>
              <a:t>• 155위 중앙아프리카공화국 (3.083점)</a:t>
            </a:r>
            <a:br/>
            <a:r>
              <a:t>• 154위 아프가니스탄 (3.203점) - 지속 분쟁</a:t>
            </a:r>
            <a:br/>
            <a:r>
              <a:t>• 153위 탄자니아 (3.231점) / 152위 르완다 (3.334점)</a:t>
            </a:r>
          </a:p>
          <a:p>
            <a:pPr>
              <a:defRPr sz="1400" b="1">
                <a:solidFill>
                  <a:srgbClr val="006241"/>
                </a:solidFill>
              </a:defRPr>
            </a:pPr>
            <a:r>
              <a:t>최상위 북유럽 3대 성공 방정식</a:t>
            </a:r>
          </a:p>
          <a:p>
            <a:pPr>
              <a:spcBef>
                <a:spcPts val="600"/>
              </a:spcBef>
              <a:defRPr sz="1100">
                <a:solidFill>
                  <a:srgbClr val="1E1E1E"/>
                </a:solidFill>
              </a:defRPr>
            </a:pPr>
            <a:r>
              <a:t>1. 포용적 복지 제도: 실패해도 회생할 수 있는 안전 매트리스</a:t>
            </a:r>
            <a:br/>
            <a:r>
              <a:t>2. 높은 공공 신뢰: 투명한 정부 운영과 낮은 부패 인식</a:t>
            </a:r>
            <a:br/>
            <a:r>
              <a:t>3. 삶의 자율성 보장: 사회적 눈치 없이 자신의 진로를 주도적 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54A"/>
                </a:solidFill>
              </a:defRPr>
            </a:pPr>
            <a:r>
              <a:t>WORLD HAPPINESS REPORT 2015-2019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6241"/>
                </a:solidFill>
              </a:defRPr>
            </a:pPr>
            <a:r>
              <a:t>행복 결정 요인 분석: 무엇이 인간을 행복하게 만드는가?</a:t>
            </a:r>
          </a:p>
        </p:txBody>
      </p:sp>
      <p:pic>
        <p:nvPicPr>
          <p:cNvPr id="5" name="Picture 4" descr="chart1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31670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463040"/>
            <a:ext cx="4572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6241"/>
                </a:solidFill>
              </a:defRPr>
            </a:pPr>
            <a:r>
              <a:t>상관관계 분석 핵심 시사점</a:t>
            </a:r>
          </a:p>
          <a:p>
            <a:pPr>
              <a:spcBef>
                <a:spcPts val="1000"/>
              </a:spcBef>
              <a:defRPr sz="1200" b="1">
                <a:solidFill>
                  <a:srgbClr val="00754A"/>
                </a:solidFill>
              </a:defRPr>
            </a:pPr>
            <a:r>
              <a:t>1. 물질적·신체적 토대 (r = 0.74 ~ 0.79)</a:t>
            </a:r>
          </a:p>
          <a:p>
            <a:pPr>
              <a:defRPr sz="1050">
                <a:solidFill>
                  <a:srgbClr val="6E6E6E"/>
                </a:solidFill>
              </a:defRPr>
            </a:pPr>
            <a:r>
              <a:t>1인당 GDP와 건강 기대수명은 행복의 절대적인 기본 전제입니다. 기본 생존과 보건 인프라 없이는 높은 행복도를 달성하기 어렵습니다.</a:t>
            </a:r>
          </a:p>
          <a:p>
            <a:pPr>
              <a:spcBef>
                <a:spcPts val="1000"/>
              </a:spcBef>
              <a:defRPr sz="1200" b="1">
                <a:solidFill>
                  <a:srgbClr val="00754A"/>
                </a:solidFill>
              </a:defRPr>
            </a:pPr>
            <a:r>
              <a:t>2. 사회적 지지망의 결정적 역할 (r = 0.65)</a:t>
            </a:r>
          </a:p>
          <a:p>
            <a:pPr>
              <a:defRPr sz="1050">
                <a:solidFill>
                  <a:srgbClr val="6E6E6E"/>
                </a:solidFill>
              </a:defRPr>
            </a:pPr>
            <a:r>
              <a:t>어려움에 처했을 때 기댈 수 있는 가족이나 친구, 사회 공동체의 유무가 삶의 만족도를 결정하는 핵심 매개체입니다.</a:t>
            </a:r>
          </a:p>
          <a:p>
            <a:pPr>
              <a:spcBef>
                <a:spcPts val="1000"/>
              </a:spcBef>
              <a:defRPr sz="1200" b="1">
                <a:solidFill>
                  <a:srgbClr val="00754A"/>
                </a:solidFill>
              </a:defRPr>
            </a:pPr>
            <a:r>
              <a:t>3. 상위권 도약의 열쇠: 자율성과 신뢰</a:t>
            </a:r>
          </a:p>
          <a:p>
            <a:pPr>
              <a:defRPr sz="1050">
                <a:solidFill>
                  <a:srgbClr val="6E6E6E"/>
                </a:solidFill>
              </a:defRPr>
            </a:pPr>
            <a:r>
              <a:t>경제력이 선진국 수준에 도달한 후에는 '개인의 선택 자유(r=0.55)'와 '정부 청렴도(r=0.40)'가 국가 간 행복 격차를 가르는 결정적 차별 요소가 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54A"/>
                </a:solidFill>
              </a:defRPr>
            </a:pPr>
            <a:r>
              <a:t>WORLD HAPPINESS REPORT 2015-2019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6241"/>
                </a:solidFill>
              </a:defRPr>
            </a:pPr>
            <a:r>
              <a:t>대한민국(South Korea) 심층 진단: 번영 속의 행복 정체</a:t>
            </a:r>
          </a:p>
        </p:txBody>
      </p:sp>
      <p:pic>
        <p:nvPicPr>
          <p:cNvPr id="5" name="Picture 4" descr="chart2_kore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820655"/>
          </a:xfrm>
          <a:prstGeom prst="rect">
            <a:avLst/>
          </a:prstGeom>
        </p:spPr>
      </p:pic>
      <p:pic>
        <p:nvPicPr>
          <p:cNvPr id="6" name="Picture 5" descr="chart4_korea_vs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9432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2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2014"/>
                </a:solidFill>
              </a:defRPr>
            </a:pPr>
            <a:r>
              <a:t>대한민국의 핵심 모순: '높은 역량, 낮은 체감 자유와 신뢰'</a:t>
            </a:r>
          </a:p>
          <a:p>
            <a:pPr>
              <a:defRPr sz="1050">
                <a:solidFill>
                  <a:srgbClr val="1E1E1E"/>
                </a:solidFill>
              </a:defRPr>
            </a:pPr>
            <a:r>
              <a:t>• 강점: 1인당 GDP(1.30점) 및 건강 기대수명(1.04점, 글로벌 최상위권)은 선진국 수준을 완벽히 충족함</a:t>
            </a:r>
            <a:br/>
            <a:r>
              <a:t>• 치명적 약점: '삶의 선택 자유'는 0.159점으로 조사 대상 156개국 중 최하위권(140위권)이며, 정부 신뢰도(0.056점) 역시 매우 낮음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54A"/>
                </a:solidFill>
              </a:defRPr>
            </a:pPr>
            <a:r>
              <a:t>WORLD HAPPINESS REPORT 2015-2019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6241"/>
                </a:solidFill>
              </a:defRPr>
            </a:pPr>
            <a:r>
              <a:t>동아시아 벤치마크: 대만, 한국, 일본, 홍콩 비교 (2019)</a:t>
            </a:r>
          </a:p>
        </p:txBody>
      </p:sp>
      <p:pic>
        <p:nvPicPr>
          <p:cNvPr id="5" name="Picture 4" descr="chart3_east_as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28701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241"/>
                </a:solidFill>
              </a:defRPr>
            </a:pPr>
            <a:r>
              <a:t>동아시아 주요국 비교 관전 포인트</a:t>
            </a:r>
          </a:p>
          <a:p>
            <a:pPr>
              <a:spcBef>
                <a:spcPts val="800"/>
              </a:spcBef>
              <a:defRPr sz="1200" b="1">
                <a:solidFill>
                  <a:srgbClr val="00754A"/>
                </a:solidFill>
              </a:defRPr>
            </a:pPr>
            <a:r>
              <a:t>1. 대만(25위, 6.446점)의 독보적 선전</a:t>
            </a:r>
          </a:p>
          <a:p>
            <a:pPr>
              <a:defRPr sz="1050">
                <a:solidFill>
                  <a:srgbClr val="6E6E6E"/>
                </a:solidFill>
              </a:defRPr>
            </a:pPr>
            <a:r>
              <a:t>대만은 동아시아 국가 중 유일하게 20위권에 진입했습니다. 한국과 1인당 소득은 비슷하지만, 사회적 지지망(1.430)과 삶의 선택 자유(0.351)가 한국(0.159)보다 2배 이상 높았습니다.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00754A"/>
                </a:solidFill>
              </a:defRPr>
            </a:pPr>
            <a:r>
              <a:t>2. 한국(54위) vs 일본(58위)의 유사한 딜레마</a:t>
            </a:r>
          </a:p>
          <a:p>
            <a:pPr>
              <a:defRPr sz="1050">
                <a:solidFill>
                  <a:srgbClr val="6E6E6E"/>
                </a:solidFill>
              </a:defRPr>
            </a:pPr>
            <a:r>
              <a:t>한국(5.895점)과 일본(5.886점)은 거의 동일한 수준의 행복도를 기록했습니다. 양국 모두 세계 최고의 치안과 의료를 갖추었지만, 조직 문화의 경직성과 입시/취업 경쟁 압박이 유사하게 작용합니다.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00754A"/>
                </a:solidFill>
              </a:defRPr>
            </a:pPr>
            <a:r>
              <a:t>3. 사회 갈등과 홍콩(76위)</a:t>
            </a:r>
          </a:p>
          <a:p>
            <a:pPr>
              <a:defRPr sz="1050">
                <a:solidFill>
                  <a:srgbClr val="6E6E6E"/>
                </a:solidFill>
              </a:defRPr>
            </a:pPr>
            <a:r>
              <a:t>홍콩은 GDP와 수명에서 세계 최고 수준임에도 불구하고, 사회적 신뢰 저하와 자유도 불안정으로 인해 76위로 크게 밀려났습니다.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54A"/>
                </a:solidFill>
              </a:defRPr>
            </a:pPr>
            <a:r>
              <a:t>WORLD HAPPINESS REPORT 2015-2019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6241"/>
                </a:solidFill>
              </a:defRPr>
            </a:pPr>
            <a:r>
              <a:t>지난 5년간의 대격변: 가장 크게 상승한 나라 vs 추락한 나라 (2015-2019)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2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82014"/>
                </a:solidFill>
              </a:defRPr>
            </a:pPr>
            <a:r>
              <a:t>최대 하락 국가 (Biggest Droppers)</a:t>
            </a:r>
          </a:p>
          <a:p>
            <a:pPr>
              <a:spcBef>
                <a:spcPts val="1000"/>
              </a:spcBef>
              <a:spcAft>
                <a:spcPts val="1200"/>
              </a:spcAft>
              <a:defRPr sz="1150">
                <a:solidFill>
                  <a:srgbClr val="1E1E1E"/>
                </a:solidFill>
              </a:defRPr>
            </a:pPr>
            <a:r>
              <a:t>1. 베네수엘라: -2.103점 급락 (6.810점 → 4.707점, 23위 → 108위)</a:t>
            </a:r>
            <a:br/>
            <a:r>
              <a:t>2. 레소토: -1.096점 하락</a:t>
            </a:r>
            <a:br/>
            <a:r>
              <a:t>3. 잠비아: -1.022점 하락</a:t>
            </a:r>
            <a:br/>
            <a:r>
              <a:t>4. 짐바브웨: -0.947점 하락</a:t>
            </a:r>
            <a:br/>
            <a:r>
              <a:t>5. 아이티: -0.921점 하락</a:t>
            </a:r>
          </a:p>
          <a:p>
            <a:pPr>
              <a:defRPr sz="1300" b="1">
                <a:solidFill>
                  <a:srgbClr val="C82014"/>
                </a:solidFill>
              </a:defRPr>
            </a:pPr>
            <a:r>
              <a:t>시사점: 국가 거버넌스 붕괴의 대가</a:t>
            </a:r>
          </a:p>
          <a:p>
            <a:pPr>
              <a:defRPr sz="1050">
                <a:solidFill>
                  <a:srgbClr val="6E6E6E"/>
                </a:solidFill>
              </a:defRPr>
            </a:pPr>
            <a:r>
              <a:t>베네수엘라의 경우 정치적 혼란과 하이퍼인플레이션, 공공 인프라 붕괴가 국민 체감 행복도를 순식간에 파괴할 수 있음을 증명합니다.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6241"/>
                </a:solidFill>
              </a:defRPr>
            </a:pPr>
            <a:r>
              <a:t>최대 상승 국가 (Biggest Gainers)</a:t>
            </a:r>
          </a:p>
          <a:p>
            <a:pPr>
              <a:spcBef>
                <a:spcPts val="1000"/>
              </a:spcBef>
              <a:spcAft>
                <a:spcPts val="1200"/>
              </a:spcAft>
              <a:defRPr sz="1150">
                <a:solidFill>
                  <a:srgbClr val="1E1E1E"/>
                </a:solidFill>
              </a:defRPr>
            </a:pPr>
            <a:r>
              <a:t>1. 베냉 (Benin): +1.543점 상승 (3.340점 → 4.883점)</a:t>
            </a:r>
            <a:br/>
            <a:r>
              <a:t>2. 코트디부아르: +1.289점 상승 (3.655점 → 4.944점)</a:t>
            </a:r>
            <a:br/>
            <a:r>
              <a:t>3. 토고 (Togo): +1.246점 상승 (2.839점 → 4.085점)</a:t>
            </a:r>
            <a:br/>
            <a:r>
              <a:t>4. 온두라스: +1.072점 상승</a:t>
            </a:r>
            <a:br/>
            <a:r>
              <a:t>5. 부르키나파소: +1.000점 상승</a:t>
            </a:r>
          </a:p>
          <a:p>
            <a:pPr>
              <a:defRPr sz="1300" b="1">
                <a:solidFill>
                  <a:srgbClr val="006241"/>
                </a:solidFill>
              </a:defRPr>
            </a:pPr>
            <a:r>
              <a:t>시사점: 정정 안정과 기초 경제 성장의 힘</a:t>
            </a:r>
          </a:p>
          <a:p>
            <a:pPr>
              <a:defRPr sz="1050">
                <a:solidFill>
                  <a:srgbClr val="6E6E6E"/>
                </a:solidFill>
              </a:defRPr>
            </a:pPr>
            <a:r>
              <a:t>서아프리카 국가들은 내전 종식, 정치적 안정 회복, 기초 보건 및 인프라 구축을 통해 단기간에 극적인 행복 지수 개선을 달성했습니다.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54A"/>
                </a:solidFill>
              </a:defRPr>
            </a:pPr>
            <a:r>
              <a:t>WORLD HAPPINESS REPORT 2015-2019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6241"/>
                </a:solidFill>
              </a:defRPr>
            </a:pPr>
            <a:r>
              <a:t>대한민국 행복 지수 도약을 위한 3대 전략적 제언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64592" cy="1188720"/>
          </a:xfrm>
          <a:prstGeom prst="round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57276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241"/>
                </a:solidFill>
              </a:defRPr>
            </a:pPr>
            <a:r>
              <a:t>전략 1: 삶의 경로 자율성 보장</a:t>
            </a:r>
          </a:p>
          <a:p>
            <a:pPr>
              <a:spcBef>
                <a:spcPts val="400"/>
              </a:spcBef>
              <a:defRPr sz="1100">
                <a:solidFill>
                  <a:srgbClr val="6E6E6E"/>
                </a:solidFill>
              </a:defRPr>
            </a:pPr>
            <a:r>
              <a:t>획일적 성공 기준에서 탈피하여 다양한 진로와 삶의 방식을 존중하는 유연한 사회 구조 구축이 필수적입니다. 노동 시장 유연안전성(Flexicurity)을 확보하여 이직 및 재도전의 기회를 보장해야 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64592" cy="1188720"/>
          </a:xfrm>
          <a:prstGeom prst="roundRect">
            <a:avLst/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4436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241"/>
                </a:solidFill>
              </a:defRPr>
            </a:pPr>
            <a:r>
              <a:t>전략 2: 사회적 자본과 공공 신뢰 제고</a:t>
            </a:r>
          </a:p>
          <a:p>
            <a:pPr>
              <a:spcBef>
                <a:spcPts val="400"/>
              </a:spcBef>
              <a:defRPr sz="1100">
                <a:solidFill>
                  <a:srgbClr val="6E6E6E"/>
                </a:solidFill>
              </a:defRPr>
            </a:pPr>
            <a:r>
              <a:t>국가 및 공공 기관의 정책 투명성을 강화하고 사회 전반의 부패 인식을 척결해야 합니다. 사회적 자본(Social Capital) 투자를 통해 공동체 간 신뢰도를 회복해야 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64592" cy="1188720"/>
          </a:xfrm>
          <a:prstGeom prst="roundRect">
            <a:avLst/>
          </a:prstGeom>
          <a:solidFill>
            <a:srgbClr val="CBA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315968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241"/>
                </a:solidFill>
              </a:defRPr>
            </a:pPr>
            <a:r>
              <a:t>전략 3: 실패를 용인하는 사회적 안전망</a:t>
            </a:r>
          </a:p>
          <a:p>
            <a:pPr>
              <a:spcBef>
                <a:spcPts val="400"/>
              </a:spcBef>
              <a:defRPr sz="1100">
                <a:solidFill>
                  <a:srgbClr val="6E6E6E"/>
                </a:solidFill>
              </a:defRPr>
            </a:pPr>
            <a:r>
              <a:t>단순 경제 지원을 넘어 실패 시 빈곤으로 추락하지 않도록 보호하는 '안전 매트리스' 구축이 필요합니다. 고립 청년 및 취약 계층의 심리·사회적 복지망을 확충해야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